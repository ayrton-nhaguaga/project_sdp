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os autores e o tema. O CloudExpense é o estudo de caso desenvolvido para demonstrar funções activadas por HTTP, persistência num serviço gerido e uma interface web moderna. O trabalho está funcional e validado localmente; a publicação remota ainda não foi realizada. Não indicar uma instituição ou curso que não tenham sido fornecidos.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Organizar a exposição em quatro momentos. Primeiro definir o problema e os objectivos; depois explicar os fundamentos; em seguida mostrar a arquitectura e a aplicação; terminar com resultados, limitações e conclusão. Duração sugerida: 18 a 22 minutos, incluindo uma demonstração breve.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o projecto liga um problema de organização financeira a uma questão tecnológica. Não se apresenta uma pesquisa estatística sobre hábitos dos utilizadores; trata-se do cenário que orientou o desenvolvimento. O foco académico é compreender como a aplicação processa cada acção sem manter um servidor de aplicação tradicional.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dois níveis do problema: o funcional, organizar e consultar movimentos, e o de engenharia, implementar a aplicação sem administrar um servidor permanente. A pergunta orienta a demonstração prática; o trabalho não pretende provar que serverless é sempre mais barato ou mais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projecto tem relevância prática, pedagógica e técnica. A gestão financeira oferece operações fáceis de observar, enquanto o percurso HTTP até ao banco permite explicar eventos, função e serviço gerido. Segurança e testes fazem parte da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o objectivo geral e resumir os específicos em três grupos: implementar a API e persistência; construir a interface e relatórios; validar, observar e preparar a publicação. Todos se relacionam com os critérios de demonstração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Caracterizar o trabalho como desenvolvimento aplicado de um protótipo funcional, com verificação incremental. Os requisitos orientaram a construção; os testes verificaram regras e fluxos. Não houve estudo com participantes nem comparação experimental de desempenho entre plataformas.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Serverless significa que a infraestrutura de execução é gerida pelo fornecedor. Os servidores físicos continuam a existir. FaaS é a execução de funções em resposta a eventos; neste projecto, o evento é um pedido HTTP. O estado financeiro fica no D1, não na memória temporária do Worker. Não assumir que cada pedido cria uma máquina ou um processo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responsabilidades, evitando generalizações. Na hospedagem tradicional aqui considerada existe um processo de aplicação numa máquina provisionada. O modelo gerido retira tarefas de operação de infraestrutura, mas não elimina o trabalho com código, segurança, dados e custos. Ambos podem ser válidos conforme os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stack pelo papel de cada conjunto, sem transformar a apresentação numa lista de bibliotecas. React trata da experiência; Hono organiza a API; D1 persiste. Wrangler executa e publica; testes validam. Node.js é usado para ferramentas de desenvolvimento, não como servidor permanente de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Seguir as setas da esquerda para a direita. React comunica por HTTP REST com Hono, que chama services e repositories. O repository usa o binding DB. A resposta regressa em JSON. Em produção, Access protege o acesso e Static Assets serve React. A configuração remota está preparada, mas ainda não publicada.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este slide para responder à pergunta 'onde está a função?'. O evento entra no handler do Worker, Hono selecciona a rota e a lógica é executada. A escrita é aguardada antes da confirmação. A interface invalida as consultas para obter os totais do backend. Um ambiente de execução pode ser reutilizado; os dados não dependem da sua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relação de uma categoria para muitas transacções. O esquema tem timestamps, índices e restrições adicionais; o diagrama mostra os campos essenciais. Explicar a conversão monetária sem arredondamento e a proibição de eliminar categorias utilizadas. O saldo é calculado, não duplicado numa coluna.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captura real obtida num teste local. Os valores são registos temporários de teste, removidos depois da validação. Destacar cartões, evolução por mês e despesas por categoria. Todos recebem valores da API. O dashboard mostra o ano seleccionado; o saldo também se refere a esse período.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aplicação permite criar, ler, editar e eliminar movimentos, e gerir categorias com restrições. Os filtros combinam-se com paginação. Mostrar a captura mobile e explicar que as tabelas largas têm scroll interno. Não afirmar uma auditoria completa de acessibilidade: foram implementados foco, labels, teclado e feedback, e validados fluxos no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protecção implementada de configuração externa. Zod valida em ambos os lados, mas o backend é a autoridade. SQL parametrizado e constraints protegem dados. O middleware de produção valida assinatura e claims JWT. Ainda é preciso criar a política Access real na conta. O MVP é um espaço partilhado, sem contas individuais.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Executar, se houver tempo, os passos no browser. Primeiro criar receita de 25000 MT na categoria Salário; depois despesa de 5000 MT em Alimentação, com datas no mesmo ano seleccionado. Confirmar os cartões e recarregar. Os testes E2E também fizeram edição, eliminação e gestão de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números são do relatório de testes registado em 11 de Outubro de 2026. São 55 testes unitários/de integração e 2 percursos end-to-end, totalizando 57 casos executados. Distinguir testes de componente com mocks HTTP dos testes Worker/D1 no runtime local. Estes resultados não comprovam desempenho ou disponibilidade na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aba Network durante a demonstração e relacionar o pedido com o log. O requestId permite correlacionar eventos. Não mostrar uma latência inventada no slide: o painel mede-a ao vivo. A duração HTTP inclui rede e processamento e não corresponde ao tempo de CPU facturado. Métricas remotas só estarão disponíveis depois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Relacionar vantagens com escolhas observadas, sem prometer poupança medida. O modelo de cobrança depende do plano; não inserir preços fixos. Neste projecto todos os pedidos passam pelo Worker para validação de Access, incluindo assets. D1 tem limites próprios; escalabilidade do compute não elimina gargalos nos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preciso sobre o estado do trabalho: funciona no computador com Wrangler e D1 local. O dry-run apenas valida o empacotamento. Para publicar, falta autenticar na conta, criar a base remota, preencher o ID, configurar domínio e Access, aplicar migrações e publicar com autorização. Dados locais não são transferidos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o objectivo geral. A implementação demonstra execução orientada a pedidos, regras no Worker e persistência independente no D1 local. Os testes sustentam o funcionamento nos fluxos verificados. A demonstração remota exige a configuração e publicação ainda pendentes. Melhorias futuras não devem ser apresentadas como funcionalidades já existentes.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referências técnicas são documentação oficial Cloudflare, consultada em 11 de Outubro de 2026. Os números de testes e capturas vêm do projecto local. Os links completos estão nas notas e no guião. Os diagramas foram elaborados para esta apresentação.</a:t>
            </a:r>
          </a:p>
          <a:p/>
          <a:p>
            <a:r>
              <a:t>[1] Cloudflare — How Workers works</a:t>
            </a:r>
          </a:p>
          <a:p>
            <a:r>
              <a:t>https://developers.cloudflare.com/workers/reference/how-workers-works/</a:t>
            </a:r>
          </a:p>
          <a:p>
            <a:r>
              <a:t>[2] Cloudflare — D1 overview</a:t>
            </a:r>
          </a:p>
          <a:p>
            <a:r>
              <a:t>https://developers.cloudflare.com/d1/</a:t>
            </a:r>
          </a:p>
          <a:p>
            <a:r>
              <a:t>[3] Cloudflare One — Validate JWTs</a:t>
            </a:r>
          </a:p>
          <a:p>
            <a:r>
              <a:t>https://developers.cloudflare.com/cloudflare-one/access-controls/applications/http-apps/authorization-cookie/validating-json/</a:t>
            </a:r>
          </a:p>
          <a:p>
            <a:r>
              <a:t>[4] Cloudflare — Workers pricing</a:t>
            </a:r>
          </a:p>
          <a:p>
            <a:r>
              <a:t>https://developers.cloudflare.com/workers/platform/pricing/</a:t>
            </a:r>
          </a:p>
          <a:p>
            <a:r>
              <a:t>[5] Cloudflare — D1 pricing</a:t>
            </a:r>
          </a:p>
          <a:p>
            <a:r>
              <a:t>https://developers.cloudflare.com/d1/platform/pricing/</a:t>
            </a:r>
          </a:p>
          <a:p>
            <a:r>
              <a:t>[6] CloudExpense — documentação e testes</a:t>
            </a:r>
          </a:p>
          <a:p>
            <a:r>
              <a:t>docs/ARCHITECTURE.md · SERVERLESS.md · TESTING.md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e convidar perguntas. Preparar respostas sobre a diferença entre FaaS e serverless, localização da persistência, validação monetária, ausência de contas, limites do teste local e configuração de Access. Se solicitado, abrir a aplicação ou a documentação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s.cloudflare.com/workers/reference/how-workers-works/" TargetMode="External"/><Relationship Id="rId4" Type="http://schemas.openxmlformats.org/officeDocument/2006/relationships/hyperlink" Target="https://developers.cloudflare.com/d1/" TargetMode="External"/><Relationship Id="rId5" Type="http://schemas.openxmlformats.org/officeDocument/2006/relationships/hyperlink" Target="https://developers.cloudflare.com/cloudflare-one/access-controls/applications/http-apps/authorization-cookie/validating-json/" TargetMode="External"/><Relationship Id="rId6" Type="http://schemas.openxmlformats.org/officeDocument/2006/relationships/hyperlink" Target="https://developers.cloudflare.com/workers/platform/pricing/" TargetMode="External"/><Relationship Id="rId7" Type="http://schemas.openxmlformats.org/officeDocument/2006/relationships/hyperlink" Target="https://developers.cloudflare.com/d1/platform/pricing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APRESENTAÇÃO ACADÉMICA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Computação Serverless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7315200" cy="9144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000000"/>
                </a:solidFill>
                <a:latin typeface="Arial"/>
              </a:defRPr>
            </a:pPr>
            <a:r>
              <a:t>CloudExpense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53512"/>
            <a:ext cx="640080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000000"/>
                </a:solidFill>
                <a:latin typeface="Arial"/>
              </a:defRPr>
            </a:pPr>
            <a:r>
              <a:t>Smart Personal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630168"/>
            <a:ext cx="6995160" cy="93268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Uma aplicação de gestão financeira pessoal</a:t>
            </a:r>
          </a:p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com Cloudflare Workers e Cloudflare D1.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074920"/>
            <a:ext cx="10881360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Ayrton Nhaguaga  ·  Abelardo Miambo  ·  Edmilson Conge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596128"/>
            <a:ext cx="10881360" cy="32004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Turma: Lecc31     |     Docente: Sergio Sambo</a:t>
            </a:r>
          </a:p>
        </p:txBody>
      </p:sp>
      <p:sp>
        <p:nvSpPr>
          <p:cNvPr id="13" name="Cloud 12"/>
          <p:cNvSpPr/>
          <p:nvPr/>
        </p:nvSpPr>
        <p:spPr>
          <a:xfrm>
            <a:off x="8247888" y="2029968"/>
            <a:ext cx="2788920" cy="1856231"/>
          </a:xfrm>
          <a:prstGeom prst="cloud">
            <a:avLst/>
          </a:prstGeom>
          <a:solidFill>
            <a:srgbClr val="FFFFFF"/>
          </a:solidFill>
          <a:ln w="203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9368" y="2779776"/>
            <a:ext cx="1901952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SERVERLESS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56064" y="3867912"/>
            <a:ext cx="0" cy="5303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47888" y="4416552"/>
            <a:ext cx="2788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572000"/>
            <a:ext cx="2459736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Worker + 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5148072"/>
            <a:ext cx="2496312" cy="54864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Execução e persistência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Percurso da apresentação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02 /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3400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9436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221992"/>
            <a:ext cx="4114800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Contexto e objectivos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807208"/>
            <a:ext cx="4114800" cy="594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Introdução, problema e justificativa.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2011680"/>
            <a:ext cx="53400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194560"/>
            <a:ext cx="59436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3" y="2221992"/>
            <a:ext cx="4114800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Fundamentos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2807208"/>
            <a:ext cx="4114800" cy="594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Serverless, FaaS e responsabilidades.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895344"/>
            <a:ext cx="53400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78224"/>
            <a:ext cx="59436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05656"/>
            <a:ext cx="4114800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Implementação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690872"/>
            <a:ext cx="4114800" cy="594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Arquitectura, dados, interface e segurança.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3895344"/>
            <a:ext cx="53400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4078224"/>
            <a:ext cx="59436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3" y="4105656"/>
            <a:ext cx="4114800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Avaliação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4690872"/>
            <a:ext cx="4114800" cy="594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Demonstração, testes e conclusão.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Introdução: do registo à informação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Fonte: descrição e objectivos do projecto CloudExpense.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029968"/>
            <a:ext cx="6309359" cy="969263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Registar receitas e despesas permite organizar os movimentos financeiros.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7238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72384"/>
            <a:ext cx="6309359" cy="969263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Categorias e relatórios transformam registos em informação útil.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1148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114800"/>
            <a:ext cx="6309359" cy="969263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Uma aplicação web exige interface, processamento e persistência.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240280"/>
            <a:ext cx="3547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395728"/>
            <a:ext cx="3218688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Questão tecnológica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2971800"/>
            <a:ext cx="3255264" cy="123444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Como executar essa lógica numa infraestrutura gerida?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4608576"/>
            <a:ext cx="3566160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Caso de estudo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4919472"/>
            <a:ext cx="3538728" cy="100584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CloudExpense: uma aplicação completa para demonstrar serverless.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PROBLEMATIZAÇÃO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Problema e pergunta de investigação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39112"/>
            <a:ext cx="521208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Necessidade funcional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0662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06624"/>
            <a:ext cx="4864607" cy="9144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Centralizar receitas, despesas e categorias.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94176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694176"/>
            <a:ext cx="4864607" cy="9144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Calcular saldos e consultar o histórico com consistência.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039112"/>
            <a:ext cx="521208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Desafio de implementação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70662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706624"/>
            <a:ext cx="4846320" cy="9144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Executar lógica sob demanda.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694176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3694176"/>
            <a:ext cx="4846320" cy="9144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Persistir dados e validar entradas sem um backend Node.js permanente.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992624"/>
            <a:ext cx="1088136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074920"/>
            <a:ext cx="10451592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Como construir uma aplicação financeira funcional com uma arquitectura serverless?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Justificativa e relevância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05 /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167128"/>
            <a:ext cx="35112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50008"/>
            <a:ext cx="73152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44368"/>
            <a:ext cx="310896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Aplicação 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30168"/>
            <a:ext cx="3108960" cy="1554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Um domínio claro: receitas, despesas, saldo e categorias.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167128"/>
            <a:ext cx="35112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350008"/>
            <a:ext cx="73152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944368"/>
            <a:ext cx="310896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Aprendizagem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630168"/>
            <a:ext cx="3108960" cy="1554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Tornar visível o fluxo entre interface, função e persistência.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2167128"/>
            <a:ext cx="35112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50008"/>
            <a:ext cx="73152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44368"/>
            <a:ext cx="310896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Engenharia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630168"/>
            <a:ext cx="3108960" cy="1554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Integrar validação, integridade, testes e documentação.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559552"/>
            <a:ext cx="10789920" cy="42062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A contribuição é uma implementação demonstrável, acompanhada de evidências locais.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OBJECTIVOS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Objectivo geral e objectivos específicos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75104"/>
            <a:ext cx="10890504" cy="12801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Desenvolver uma aplicação web de gestão financeira pessoal baseada em serverless, com execução sob demanda e persistência de dados.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" y="3392424"/>
            <a:ext cx="108173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694176"/>
            <a:ext cx="73152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489704"/>
            <a:ext cx="3374136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Implementar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129784"/>
            <a:ext cx="3328416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API REST, regras de negócio e D1.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3694176"/>
            <a:ext cx="73152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4489704"/>
            <a:ext cx="3374136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Integrar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5129784"/>
            <a:ext cx="3328416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React, CRUD, filtros e gráficos reais.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694176"/>
            <a:ext cx="73152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4489704"/>
            <a:ext cx="3374136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5129784"/>
            <a:ext cx="3328416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Testes, logs e documentação de deploy.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Metodologia de desenvolvimento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13432"/>
            <a:ext cx="914400" cy="6217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08960"/>
            <a:ext cx="2414016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264408"/>
            <a:ext cx="2084832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40480"/>
            <a:ext cx="2121408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Âmbito e regras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63824" y="3685032"/>
            <a:ext cx="246888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313432"/>
            <a:ext cx="914400" cy="6217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1296" y="3108960"/>
            <a:ext cx="2414016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3264408"/>
            <a:ext cx="2084832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Modelação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2121408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Camadas e dados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6752" y="3685032"/>
            <a:ext cx="246888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313432"/>
            <a:ext cx="914400" cy="6217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3108960"/>
            <a:ext cx="2414016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3264408"/>
            <a:ext cx="2084832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Construção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840480"/>
            <a:ext cx="2121408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API e interface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680" y="3685032"/>
            <a:ext cx="246888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2313432"/>
            <a:ext cx="914400" cy="6217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3108960"/>
            <a:ext cx="2414016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3264408"/>
            <a:ext cx="2084832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Validação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3840480"/>
            <a:ext cx="2121408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Testes e browser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5120640"/>
            <a:ext cx="10698480" cy="60350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Iteração: implementar → verificar → corrigir → verificar novamente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5660136"/>
            <a:ext cx="10698480" cy="27432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Artefactos: código, migrações, testes, documentação e apresentação.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 que é Computação Serverless?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Referências: [1] funcionamento de Workers; [2] visão geral do D1.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10881360" cy="11430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Infraestrutura gerida pelo fornecedor;</a:t>
            </a:r>
          </a:p>
          <a:p>
            <a:pPr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lógica da aplicação activada por eventos.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465576"/>
            <a:ext cx="2871216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621024"/>
            <a:ext cx="2542032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Evento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97096"/>
            <a:ext cx="2578608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Pedido HTTP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67328" y="4105656"/>
            <a:ext cx="457200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3465576"/>
            <a:ext cx="327355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621024"/>
            <a:ext cx="2944368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Função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4197096"/>
            <a:ext cx="2980944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Lógica no Worker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36992" y="4105656"/>
            <a:ext cx="457200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31936" y="3465576"/>
            <a:ext cx="2871216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3621024"/>
            <a:ext cx="2542032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Persistência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197096"/>
            <a:ext cx="2578608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Dados no D1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5230368"/>
            <a:ext cx="5486400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FaaS: Function as a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5641848"/>
            <a:ext cx="10716768" cy="32004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Serverless não significa ausência física de servidores.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Hospedagem tradicional e serverless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Referência: [1]. Comparação conceptual; sem benchmark de custos ou desempenho.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10991088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12264"/>
            <a:ext cx="1755648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Aspecto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112264"/>
            <a:ext cx="407822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Servidor tradicional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112264"/>
            <a:ext cx="444398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CloudExpense serverless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15768"/>
            <a:ext cx="1755648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715768"/>
            <a:ext cx="407822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Processo numa máquina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715768"/>
            <a:ext cx="444398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Handler HTTP no Worker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172968"/>
            <a:ext cx="1099108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3319272"/>
            <a:ext cx="1755648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Infraestrutura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3319272"/>
            <a:ext cx="407822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Provisionamento e manutenção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3319272"/>
            <a:ext cx="444398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Execução gerida pela Cloudflare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3776472"/>
            <a:ext cx="1099108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3922776"/>
            <a:ext cx="1755648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Escala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3922776"/>
            <a:ext cx="407822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Instâncias e balanceamento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922776"/>
            <a:ext cx="444398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Gerida, sujeita a limites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379976"/>
            <a:ext cx="1099108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" y="4526280"/>
            <a:ext cx="1755648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Dados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624" y="4526280"/>
            <a:ext cx="407822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Banco local ou serviço externo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526280"/>
            <a:ext cx="444398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D1 gerido e persistente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4983480"/>
            <a:ext cx="1099108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5129784"/>
            <a:ext cx="1755648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Programador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5129784"/>
            <a:ext cx="407822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Código + operação do ambiente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5129784"/>
            <a:ext cx="4443984" cy="4297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Código, dados e segurança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5586983"/>
            <a:ext cx="1099108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751576"/>
            <a:ext cx="10652760" cy="3017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 responsabilidade muda de distribuição; não desaparece.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SOLUÇÃO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Tecnologias e responsabilidades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10 /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239512" cy="1563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85416"/>
            <a:ext cx="4754880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754880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React + TypeScript + Vite</a:t>
            </a:r>
          </a:p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Tailwind CSS, Recharts e TanStack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2011680"/>
            <a:ext cx="5239512" cy="1563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185416"/>
            <a:ext cx="4754880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Lógica da 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761488"/>
            <a:ext cx="4754880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Cloudflare Workers + Hono</a:t>
            </a:r>
          </a:p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Zod e API REST em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40480"/>
            <a:ext cx="5239512" cy="1563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014216"/>
            <a:ext cx="4754880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Persistência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590288"/>
            <a:ext cx="4754880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Cloudflare D1 / SQLite</a:t>
            </a:r>
          </a:p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SQL parametrizado e migrações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3840480"/>
            <a:ext cx="5239512" cy="1563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4014216"/>
            <a:ext cx="4754880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Desenvolvimento e testes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590288"/>
            <a:ext cx="4754880" cy="65836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Wrangler, Vitest e Testing Library</a:t>
            </a:r>
          </a:p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Playwright para os fluxos no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5678424"/>
            <a:ext cx="10789920" cy="32918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Node.js executa as ferramentas; o backend de produção executa no Worker.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Arquitectura da aplicação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Fonte: docs/ARCHITECTURE.md. Protecção Access e publicação remota ainda pendentes.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1984248"/>
            <a:ext cx="17922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39696"/>
            <a:ext cx="146304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Utilizador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15768"/>
            <a:ext cx="1499616" cy="6858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Acção no browser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78024" y="2651760"/>
            <a:ext cx="310896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1984248"/>
            <a:ext cx="17922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139696"/>
            <a:ext cx="146304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715768"/>
            <a:ext cx="1499616" cy="6858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Interface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73168" y="2651760"/>
            <a:ext cx="310896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2936" y="1984248"/>
            <a:ext cx="17922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2139696"/>
            <a:ext cx="146304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Worker / Hono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15768"/>
            <a:ext cx="1499616" cy="6858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API REST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68312" y="2651760"/>
            <a:ext cx="310896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984248"/>
            <a:ext cx="17922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2139696"/>
            <a:ext cx="146304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2715768"/>
            <a:ext cx="1499616" cy="6858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Regras de negócio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63455" y="2651760"/>
            <a:ext cx="310896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93224" y="1984248"/>
            <a:ext cx="179222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7816" y="2139696"/>
            <a:ext cx="1463040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2715768"/>
            <a:ext cx="1499616" cy="6858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SQL parametrizado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80192" y="3447288"/>
            <a:ext cx="0" cy="48463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n 28"/>
          <p:cNvSpPr/>
          <p:nvPr/>
        </p:nvSpPr>
        <p:spPr>
          <a:xfrm>
            <a:off x="9793224" y="3931920"/>
            <a:ext cx="1792224" cy="1298448"/>
          </a:xfrm>
          <a:prstGeom prst="can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4407408"/>
            <a:ext cx="109728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D1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840480" y="4599432"/>
            <a:ext cx="593445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13048" y="4901184"/>
            <a:ext cx="5577840" cy="55778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Resposta JSON → interface actualizada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0128" y="3785615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835907"/>
            <a:ext cx="1453896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HTTP 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" y="5632704"/>
            <a:ext cx="10844784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Produção: Cloudflare Access + Workers Static Assets + API no mesmo domínio.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EXECUÇÃO SOB DEMANDA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 percurso de uma transacção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12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66928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1965960"/>
            <a:ext cx="2221992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Acção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1063" y="1965960"/>
            <a:ext cx="740664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O utilizador preenche e submete o formulário.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" y="2551176"/>
            <a:ext cx="1063447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706624"/>
            <a:ext cx="566928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706624"/>
            <a:ext cx="2221992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Requisição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3" y="2706624"/>
            <a:ext cx="740664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React envia POST /api/transactions.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" y="3291840"/>
            <a:ext cx="1063447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447288"/>
            <a:ext cx="566928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447288"/>
            <a:ext cx="2221992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1063" y="3447288"/>
            <a:ext cx="740664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Worker verifica dados, montante e categoria.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" y="4032504"/>
            <a:ext cx="1063447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187952"/>
            <a:ext cx="566928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87952"/>
            <a:ext cx="2221992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Persistência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3" y="4187952"/>
            <a:ext cx="740664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Repository executa INSERT parametrizado no D1.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4773168"/>
            <a:ext cx="1063447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928616"/>
            <a:ext cx="566928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28616"/>
            <a:ext cx="2221992" cy="40233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Resposta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1063" y="4928616"/>
            <a:ext cx="7406640" cy="5669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HTTP 201; a interface consulta novamente os totais.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PERSISTÊNCIA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Modelo de dados e integridade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Fonte: worker/migrations/0001_initial.sql e shared/schemas.ts.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29968"/>
            <a:ext cx="4133087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231136"/>
            <a:ext cx="3749039" cy="35661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825496"/>
            <a:ext cx="3712463" cy="13258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id  ·  chave primária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name  ·  type  ·  color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created_at  ·  updated_at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1384" y="2029968"/>
            <a:ext cx="4901184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2231136"/>
            <a:ext cx="4480560" cy="35661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825496"/>
            <a:ext cx="4443984" cy="13258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id  ·  category_id (FK)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type  ·  amount  ·  description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transaction_date  ·  timestamps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73752" y="3200400"/>
            <a:ext cx="1618488" cy="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74336" y="2807208"/>
            <a:ext cx="274320" cy="32918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7208"/>
            <a:ext cx="274320" cy="32918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855464"/>
            <a:ext cx="10579608" cy="48463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1.500,50 MT  →  150050 centavos (INTEGER)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532120"/>
            <a:ext cx="1065276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Chaves estrangeiras + CHECK + triggers + consultas parametrizadas.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Dashboard: informação financeira visível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Imagem: captura real do CloudExpense em teste local; dados de demonstração, não dados pessoais.</a:t>
            </a:r>
          </a:p>
        </p:txBody>
      </p:sp>
      <p:pic>
        <p:nvPicPr>
          <p:cNvPr id="9" name="Picture 8" descr="dashboard-desktop.png"/>
          <p:cNvPicPr>
            <a:picLocks noChangeAspect="1"/>
          </p:cNvPicPr>
          <p:nvPr/>
        </p:nvPicPr>
        <p:blipFill>
          <a:blip r:embed="rId3"/>
          <a:srcRect t="13000" b="34000"/>
          <a:stretch>
            <a:fillRect/>
          </a:stretch>
        </p:blipFill>
        <p:spPr>
          <a:xfrm>
            <a:off x="649224" y="1874519"/>
            <a:ext cx="8247888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1865376"/>
            <a:ext cx="8266175" cy="40690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6296" y="2185416"/>
            <a:ext cx="2286000" cy="95097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Dados reais</a:t>
            </a:r>
          </a:p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da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7152" y="3547872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547872"/>
            <a:ext cx="2039112" cy="60350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Saldo do 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422452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224528"/>
            <a:ext cx="2039112" cy="60350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Receitas e despesas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4901183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901183"/>
            <a:ext cx="2039112" cy="603504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Distribuição por categoria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Funcionalidades e experiência de utilização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15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Imagem: captura mobile do teste E2E. Fonte funcional: README.md e docs/TESTING.md.</a:t>
            </a:r>
          </a:p>
        </p:txBody>
      </p:sp>
      <p:pic>
        <p:nvPicPr>
          <p:cNvPr id="9" name="Picture 8" descr="dashboard-mobile.png"/>
          <p:cNvPicPr>
            <a:picLocks noChangeAspect="1"/>
          </p:cNvPicPr>
          <p:nvPr/>
        </p:nvPicPr>
        <p:blipFill>
          <a:blip r:embed="rId3"/>
          <a:srcRect b="72000"/>
          <a:stretch>
            <a:fillRect/>
          </a:stretch>
        </p:blipFill>
        <p:spPr>
          <a:xfrm>
            <a:off x="822960" y="1947672"/>
            <a:ext cx="2825496" cy="38953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1947672"/>
            <a:ext cx="2825496" cy="3895344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2066543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066543"/>
            <a:ext cx="6903720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Receitas e despesas: criar, editar e eliminar com confirmação.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298094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980944"/>
            <a:ext cx="6903720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Categorias: nome, tipo e cor, preservando relações existentes.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3944" y="389534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895344"/>
            <a:ext cx="6903720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Pesquisa, filtros combinados e paginação.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480974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4809744"/>
            <a:ext cx="6903720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Layout responsivo, validação, loading e mensagens de erro.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Segurança em várias camadas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Referência: [3] validação de JWT Access. Evidência local: testes do Worker.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39112"/>
            <a:ext cx="33649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21992"/>
            <a:ext cx="73152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2962656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502152"/>
            <a:ext cx="2962656" cy="1737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Zod, limites de corpo e rejeição de origens de escrita indevidas.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039112"/>
            <a:ext cx="33649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73152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16352"/>
            <a:ext cx="2962656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02152"/>
            <a:ext cx="2962656" cy="1737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SQL parametrizado, chaves estrangeiras e regras de integridade.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2039112"/>
            <a:ext cx="336499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221992"/>
            <a:ext cx="731520" cy="411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16352"/>
            <a:ext cx="2962656" cy="6400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Acesso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502152"/>
            <a:ext cx="2962656" cy="17373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JWT Access validado; produção bloqueia se faltar configuração.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596128"/>
            <a:ext cx="10689336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MVP académico partilhado: não destinado a dados financeiros privados reais.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VALIDAÇÃO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Demonstração: do movimento ao saldo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Fonte: testes locais de integração e E2E. Montantes temporários de demonstração.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185416"/>
            <a:ext cx="304495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23160"/>
            <a:ext cx="2752344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Receita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2825496" cy="48463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25.000 MT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185416"/>
            <a:ext cx="304495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2423160"/>
            <a:ext cx="2752344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Despesa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035808"/>
            <a:ext cx="2825496" cy="48463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5.000 MT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1624" y="2185416"/>
            <a:ext cx="304495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423160"/>
            <a:ext cx="2752344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Saldo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035808"/>
            <a:ext cx="2825496" cy="48463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ctr">
              <a:spcAft>
                <a:spcPts val="80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20.000 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2852928"/>
            <a:ext cx="384048" cy="521207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852928"/>
            <a:ext cx="384048" cy="521207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44398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4443984"/>
            <a:ext cx="10186416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Recarregar a página: os dados permanecem no D1 local.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518464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" y="5184648"/>
            <a:ext cx="10186416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Editar ou eliminar: os totais são recalculados pelo backend.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Testes e resultados obtidos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Fonte: docs/TESTING.md — execução local em 11/10/2026.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84831"/>
            <a:ext cx="3282696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40280"/>
            <a:ext cx="2880360" cy="9875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5800" b="1">
                <a:solidFill>
                  <a:srgbClr val="00000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82696"/>
            <a:ext cx="2871216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95344"/>
            <a:ext cx="2816352" cy="6766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Formulários, moeda, estados e cliente HTTP.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2272" y="2084831"/>
            <a:ext cx="3282696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2880360" cy="9875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5800" b="1">
                <a:solidFill>
                  <a:srgbClr val="00000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282696"/>
            <a:ext cx="2871216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Worker + D1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895344"/>
            <a:ext cx="2816352" cy="6766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CRUD, integridade, filtros, relatórios e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2084831"/>
            <a:ext cx="3282696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240280"/>
            <a:ext cx="2880360" cy="9875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58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82696"/>
            <a:ext cx="2871216" cy="39319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Browser / E2E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895344"/>
            <a:ext cx="2816352" cy="6766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Percursos completos em desktop e mobile.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707624" cy="54864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Também aprovados: TypeScript, migração local, build e Wrangler --dry-run.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715000"/>
            <a:ext cx="10744200" cy="29260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Limite da evidência: sem teste de carga nem validação de um deploy remoto.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OBSERVABILIDADE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Como observar a execução serverless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057400"/>
            <a:ext cx="507492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No ambiente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743200"/>
            <a:ext cx="4791455" cy="76809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Network: pedido HTTP e resposta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8444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584448"/>
            <a:ext cx="4791455" cy="76809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Health check: Worker consulta o D1.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425696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425696"/>
            <a:ext cx="4791455" cy="76809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Logs: método, rota, status e requestId.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57400"/>
            <a:ext cx="4992624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Depois da publicação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7432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2743200"/>
            <a:ext cx="4681728" cy="76809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Wrangler tail e Workers Observability.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58444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3584448"/>
            <a:ext cx="4681728" cy="76809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Invocações, erros e consumo na conta.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425696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4425696"/>
            <a:ext cx="4681728" cy="76809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Verificar Access com utilizadores autorizados.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5513832"/>
            <a:ext cx="10716768" cy="466344"/>
          </a:xfrm>
          <a:prstGeom prst="rect">
            <a:avLst/>
          </a:prstGeom>
          <a:solidFill>
            <a:srgbClr val="F6F6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5605272"/>
            <a:ext cx="10351008" cy="27432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Tempo HTTP no cliente ≠ tempo de CPU do Worker.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Vantagens, custos e limitações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Referências: [4] preços Workers; [5] preços D1. Não foi realizada análise comparativa de custos.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48256"/>
            <a:ext cx="5056632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Vantagens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43200"/>
            <a:ext cx="4709159" cy="7589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Menos operação directa de servidores.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7530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75304"/>
            <a:ext cx="4709159" cy="7589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Execução gerida e integração com D1.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0740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407408"/>
            <a:ext cx="4709159" cy="7589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Desenvolvimento local antes de publicar.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48256"/>
            <a:ext cx="5120640" cy="4572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Limitações e cuidados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7432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4782312" cy="7589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Quotas, limites e dependência do fornecedor.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57530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75304"/>
            <a:ext cx="4782312" cy="7589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Custos variam com utilização e plano.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40740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07408"/>
            <a:ext cx="4782312" cy="75895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Segurança, dados e testes continuam a cargo da equipa.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14416"/>
            <a:ext cx="10771632" cy="3474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Workers: pedidos e CPU.  D1: leituras, escritas e armazenamento.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EXECUÇÃO E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Estado actual e caminho para publicação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Fonte: docs/DEPLOYMENT.md. Nenhuma publicação remota foi realizada.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029968"/>
            <a:ext cx="29077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80260"/>
            <a:ext cx="2761488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CONCLUÍDO LOCALMENTE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43200"/>
            <a:ext cx="4599431" cy="8046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Frontend, API e persistência D1.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2102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21024"/>
            <a:ext cx="4599431" cy="8046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Testes, build e pacote de publicação.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9884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498848"/>
            <a:ext cx="4599431" cy="8046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Worker com Static Assets no mesmo servidor local.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029968"/>
            <a:ext cx="29992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080260"/>
            <a:ext cx="2852927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CONFIGURAÇÃO EXTERNA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43200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743200"/>
            <a:ext cx="4818888" cy="8046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Criar D1 remoto e configurar o ID real.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21024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621024"/>
            <a:ext cx="4818888" cy="8046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Configurar domínio e Cloudflare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98848"/>
            <a:ext cx="2011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498848"/>
            <a:ext cx="4818888" cy="8046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Aplicar migrações e publicar com Wrangler.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641848"/>
            <a:ext cx="10780776" cy="34747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Local: npm.cmd run dev  →  http://127.0.0.1:5173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Conclusão e trabalhos futuros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22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20824"/>
            <a:ext cx="10789920" cy="1033271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00000"/>
                </a:solidFill>
                <a:latin typeface="Arial"/>
              </a:defRPr>
            </a:pPr>
            <a:r>
              <a:t>O CloudExpense materializa os conceitos de serverless numa aplicação funcional e verificável localmente.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3383280"/>
            <a:ext cx="1066190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3730752"/>
            <a:ext cx="5029200" cy="4389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Contribuição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25696"/>
            <a:ext cx="5038344" cy="12801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Interface, função e persistência integradas, com regras de negócio, segurança e evidências de teste.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730752"/>
            <a:ext cx="5029200" cy="4389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4425696"/>
            <a:ext cx="5074920" cy="1371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Publicar e medir o ambiente remoto.</a:t>
            </a:r>
          </a:p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Avaliar acessibilidade e carga.</a:t>
            </a:r>
          </a:p>
          <a:p>
            <a:pPr>
              <a:spcAft>
                <a:spcPts val="8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Estudar contas e isolamento de dados.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Referências e fontes das evidências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071616"/>
            <a:ext cx="1094536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Consulta: 11/10/2026. Capturas e diagramas: elaboração própria a partir do projecto.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975104"/>
            <a:ext cx="10735056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>
                <a:hlinkClick r:id="rId3"/>
              </a:rPr>
              <a:t>[1] Cloudflare — How Workers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13432"/>
            <a:ext cx="10725912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developers.cloudflare.com/workers/reference/how-workers-works/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587752"/>
            <a:ext cx="10735056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>
                <a:hlinkClick r:id="rId4"/>
              </a:rPr>
              <a:t>[2] Cloudflare — D1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26080"/>
            <a:ext cx="10725912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https://developers.cloudflare.com/d1/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200400"/>
            <a:ext cx="10735056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>
                <a:hlinkClick r:id="rId5"/>
              </a:rPr>
              <a:t>[3] Cloudflare One — Validate JWTs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38728"/>
            <a:ext cx="10725912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developers.cloudflare.com · Cloudflare One · Access · Validate JWTs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813048"/>
            <a:ext cx="10735056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>
                <a:hlinkClick r:id="rId6"/>
              </a:rPr>
              <a:t>[4] Cloudflare — Workers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151376"/>
            <a:ext cx="10725912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https://developers.cloudflare.com/workers/platform/pricing/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425696"/>
            <a:ext cx="10735056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>
                <a:hlinkClick r:id="rId7"/>
              </a:rPr>
              <a:t>[5] Cloudflare — D1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764024"/>
            <a:ext cx="10725912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https://developers.cloudflare.com/d1/platform/pricing/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5038344"/>
            <a:ext cx="10735056" cy="33832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[6] CloudExpense — documentação e testes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376672"/>
            <a:ext cx="10725912" cy="22860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docs/ARCHITECTURE.md · SERVERLESS.md · TESTING.md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058400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27664" cy="8412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Questões e discussão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700784"/>
            <a:ext cx="11018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" y="6364224"/>
            <a:ext cx="1101852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473952"/>
            <a:ext cx="6400800" cy="155448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000000"/>
                </a:solidFill>
                <a:latin typeface="Arial"/>
              </a:defRPr>
            </a:pPr>
            <a:r>
              <a:t>CLOUDEXPENSE  /  COMPUTAÇÃO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69848" cy="219456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084831"/>
            <a:ext cx="10844784" cy="155448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0000"/>
                </a:solidFill>
                <a:latin typeface="Arial"/>
              </a:defRPr>
            </a:pPr>
            <a:r>
              <a:t>A infraestrutura é gerida.</a:t>
            </a:r>
          </a:p>
          <a:p>
            <a:pPr>
              <a:spcAft>
                <a:spcPts val="800"/>
              </a:spcAft>
              <a:defRPr sz="3600" b="1">
                <a:solidFill>
                  <a:srgbClr val="000000"/>
                </a:solidFill>
                <a:latin typeface="Arial"/>
              </a:defRPr>
            </a:pPr>
            <a:r>
              <a:t>A responsabilidade pelo software continua.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4160520"/>
            <a:ext cx="10698480" cy="667512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000000"/>
                </a:solidFill>
                <a:latin typeface="Arial"/>
              </a:defRPr>
            </a:pPr>
            <a:r>
              <a:t>Obrigado.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230368"/>
            <a:ext cx="10716768" cy="36576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Ayrton Nhaguaga  ·  Abelardo Miambo  ·  Edmilson Conge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696712"/>
            <a:ext cx="10735056" cy="274320"/>
          </a:xfrm>
          <a:prstGeom prst="rect">
            <a:avLst/>
          </a:prstGeom>
          <a:noFill/>
        </p:spPr>
        <p:txBody>
          <a:bodyPr wrap="square" lIns="9144" rIns="9144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Lecc31   |   Docente: Sergio Sambo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Computação Serverless — CloudExpense</dc:title>
  <dc:subject>Apresentação académica · Turma Lecc31</dc:subject>
  <dc:creator>Ayrton Nhaguaga; Abelardo Miambo; Edmilson Conge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